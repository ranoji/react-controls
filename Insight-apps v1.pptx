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-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D870-2BAF-7F52-EAAA-F33E88556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EC63-81B6-389B-688F-3D2F952A4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71953-FC66-B97C-3815-9E98F1B5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90F6-A45D-141D-AA47-2BD5C26B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DAE24-AC1A-3771-25D9-C3D734A2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BA80-B26F-13EF-13F5-CE6FBD9A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3CC57-BA2F-C2F7-B57B-D0683D599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B7406-880A-23D6-BB05-949905C5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8EAD-CB01-F742-9973-2973CB6A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EE6EE-2CFD-5D7F-F51F-94015F7D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C151-1E1C-DA28-17FD-1A0DE6F6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68F2-59A5-F186-28B6-D9030D305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3EC3-9223-70A8-C8AE-514A0CEA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CD9B-D9DA-9F3E-B07E-BB65D02C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1CFB8-3377-B42C-A4FE-6A04AE72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6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B7D9-86AB-5518-21AA-B4E85C7A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8DF4F-F193-F45D-0B4B-D24A1B804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AAD2E-9842-D98F-39AA-153309A89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7384A-87FD-0E49-05A5-0E2B5DAC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6B32A-C7AC-3AE7-CE6F-DEBF8E6A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F1F55-A3F6-0D00-6ACF-256EA27B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44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1AB7-8028-D2C9-E00E-75F6924E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835F-375C-73C5-2D65-9FBA066AB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A9D5F-20EB-6A69-4477-CD27A610C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10C83-EE88-5BB9-5001-D553F8D0B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C8CCF-56B2-7A10-829E-DBBE3A9C5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5EA7E-87CC-A234-ADC9-0971A558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8A9D0-7217-23E6-F495-6F0D8BB7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C8D30-0B99-8205-4AC0-8E53F0BE9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8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5A15-6C6E-78BC-7B45-5C39E3FC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7D569-3EF9-071C-C67E-3F29E559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05178-5A75-82D8-D83A-B6730ECF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27901-43CE-EE58-0A75-BA554495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4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F1BB6-258F-0623-EA56-5BD5AE37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F7EF6-9609-8194-511B-B249243F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216EF-61AD-7381-9F65-D0B26AF1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3D31-7419-A2F9-CC6E-3A9BD847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BA2B5-F27C-ACB2-ECC9-CD1BC1D36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05908-D97D-5D6C-8EF5-AB108EF8E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5C27-2EE1-3BE5-83E1-18070F2F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2B60C-3134-3327-259E-9A383DB7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0685C-08C5-A242-86E8-8EDBEF69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8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1D40-5757-4FAC-8DC7-1CC50D27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A18D7-3774-6028-E74D-ADAAA7D47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876C4-21C9-6E09-78DA-154CF8CAB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5D8A1-C148-90B2-D706-D7226330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E9509-25A3-F2C3-9730-649C0F94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82BE-A16B-B9EE-1B9A-8B238B58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D57C-B3A7-B127-F030-023DB2F3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ADD0D-AD7E-876C-28A2-F637E889E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C519E-D90F-65C2-CA08-2B4287B1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684E6-F5B4-78C5-A692-A1004D16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2A77-DA8F-22B0-642B-24FF1252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2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3467E-9940-16C1-CDAC-BB64354EF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37D7F-7253-18E9-C8FA-7E248946C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0AE6-7FEB-8FBD-35BB-80D713C3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E2A8-BB5E-57AD-0FB8-70D898FD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CE930-C064-E19C-5E8C-23D335F9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6489-FAE4-CAF9-A705-0F5F44BB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9F8A2-A963-A3A9-6DC7-1C60BD69B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B35BA-58E9-1BEF-98C2-647DFB280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22322-37FA-41C0-B2F8-D675FE77358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B901-1DD6-4412-790E-44C8683EA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E2D7-8D83-09C5-B568-326E73D78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ACCF7-71D6-4226-B5D8-803215421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9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FDF958-A494-3641-7E58-8E43FF8E5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88" y="259098"/>
            <a:ext cx="6179574" cy="35909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0D4BE0-70C6-9C6C-1B87-67A354D7A92B}"/>
              </a:ext>
            </a:extLst>
          </p:cNvPr>
          <p:cNvSpPr txBox="1"/>
          <p:nvPr/>
        </p:nvSpPr>
        <p:spPr>
          <a:xfrm>
            <a:off x="519095" y="4537552"/>
            <a:ext cx="3608440" cy="155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proposed modernization strategy introduces: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React-based modern micro-frontend architecture 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Native-quality mobile interactions 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Optional AR/3D immersive visualization layer 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Reusable analytical components across apps 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Enhanced performance within existing native wrapper/container</a:t>
            </a:r>
            <a:endParaRPr lang="en-US" sz="9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5510B-B7EC-753E-4E24-9EDAC4CA3764}"/>
              </a:ext>
            </a:extLst>
          </p:cNvPr>
          <p:cNvSpPr txBox="1"/>
          <p:nvPr/>
        </p:nvSpPr>
        <p:spPr>
          <a:xfrm>
            <a:off x="7505943" y="506933"/>
            <a:ext cx="376551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RBC Insight currently operates multiple </a:t>
            </a:r>
            <a:r>
              <a:rPr lang="en-US" sz="10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en-US" sz="10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-based responsive analytics applications embedded inside a native digital marketplace mobile application. While the current architecture delivers analytical functionality, the user experience remains largely “web-dashboard driven” rather than immersive, contextual, and native-grade.</a:t>
            </a: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251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9D2151-0524-4214-D888-5664BBC4E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9" y="171762"/>
            <a:ext cx="7283756" cy="53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BADFBA-D9BF-E5D6-455A-FB7B955A3D0D}"/>
              </a:ext>
            </a:extLst>
          </p:cNvPr>
          <p:cNvSpPr/>
          <p:nvPr/>
        </p:nvSpPr>
        <p:spPr>
          <a:xfrm>
            <a:off x="8654903" y="276445"/>
            <a:ext cx="2475672" cy="388294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1000" dirty="0"/>
          </a:p>
          <a:p>
            <a:pPr lvl="1"/>
            <a:r>
              <a:rPr lang="en-US" sz="1000" b="1" dirty="0"/>
              <a:t>Existing Functionality</a:t>
            </a:r>
            <a:endParaRPr lang="en-US" sz="1000" dirty="0"/>
          </a:p>
          <a:p>
            <a:pPr lvl="1"/>
            <a:r>
              <a:rPr lang="en-US" sz="1000" dirty="0"/>
              <a:t>GIS-based gold deposit visualization </a:t>
            </a:r>
          </a:p>
          <a:p>
            <a:pPr lvl="1"/>
            <a:r>
              <a:rPr lang="en-US" sz="1000" dirty="0"/>
              <a:t>Deposit proximity analysis </a:t>
            </a:r>
          </a:p>
          <a:p>
            <a:pPr lvl="1"/>
            <a:r>
              <a:rPr lang="en-US" sz="1000" dirty="0"/>
              <a:t>Processing-site radius filtering </a:t>
            </a:r>
          </a:p>
          <a:p>
            <a:pPr lvl="1"/>
            <a:r>
              <a:rPr lang="en-US" sz="1000" dirty="0"/>
              <a:t>Resource distribution analytics </a:t>
            </a:r>
          </a:p>
          <a:p>
            <a:pPr lvl="1"/>
            <a:endParaRPr lang="en-US" sz="1000" dirty="0"/>
          </a:p>
          <a:p>
            <a:pPr lvl="1"/>
            <a:r>
              <a:rPr lang="en-US" sz="1000" b="1" dirty="0"/>
              <a:t>Recommended Modernization</a:t>
            </a:r>
            <a:endParaRPr lang="en-US" sz="1000" dirty="0"/>
          </a:p>
          <a:p>
            <a:pPr lvl="1"/>
            <a:r>
              <a:rPr lang="en-US" sz="1000" b="1" dirty="0"/>
              <a:t>React Layer</a:t>
            </a:r>
            <a:endParaRPr lang="en-US" sz="1000" dirty="0"/>
          </a:p>
          <a:p>
            <a:pPr lvl="1"/>
            <a:r>
              <a:rPr lang="en-US" sz="1000" dirty="0" err="1"/>
              <a:t>Mapbox</a:t>
            </a:r>
            <a:r>
              <a:rPr lang="en-US" sz="1000" dirty="0"/>
              <a:t> + Deck.gl </a:t>
            </a:r>
          </a:p>
          <a:p>
            <a:pPr lvl="1"/>
            <a:r>
              <a:rPr lang="en-US" sz="1000" dirty="0"/>
              <a:t>Real-time filtering </a:t>
            </a:r>
          </a:p>
          <a:p>
            <a:pPr lvl="1"/>
            <a:r>
              <a:rPr lang="en-US" sz="1000" dirty="0"/>
              <a:t>Animated clustering </a:t>
            </a:r>
          </a:p>
          <a:p>
            <a:pPr lvl="1"/>
            <a:endParaRPr lang="en-US" sz="1000" dirty="0"/>
          </a:p>
          <a:p>
            <a:pPr lvl="1"/>
            <a:r>
              <a:rPr lang="en-US" sz="1000" b="1" dirty="0"/>
              <a:t>AR Experience</a:t>
            </a:r>
            <a:endParaRPr lang="en-US" sz="1000" dirty="0"/>
          </a:p>
          <a:p>
            <a:pPr lvl="1"/>
            <a:r>
              <a:rPr lang="en-US" sz="1000" b="1" dirty="0"/>
              <a:t>Possible AR Features</a:t>
            </a:r>
            <a:endParaRPr lang="en-US" sz="1000" dirty="0"/>
          </a:p>
          <a:p>
            <a:pPr lvl="1"/>
            <a:r>
              <a:rPr lang="en-US" sz="1000" dirty="0"/>
              <a:t>3D mine/deposit visualization </a:t>
            </a:r>
          </a:p>
          <a:p>
            <a:pPr lvl="1"/>
            <a:r>
              <a:rPr lang="en-US" sz="1000" dirty="0"/>
              <a:t>Geological layers in AR </a:t>
            </a:r>
          </a:p>
          <a:p>
            <a:pPr lvl="1"/>
            <a:r>
              <a:rPr lang="en-US" sz="1000" dirty="0"/>
              <a:t>Deposit density heat zones </a:t>
            </a:r>
          </a:p>
          <a:p>
            <a:pPr lvl="1"/>
            <a:r>
              <a:rPr lang="en-US" sz="1000" dirty="0"/>
              <a:t>Nearby processing-site overlay </a:t>
            </a:r>
          </a:p>
          <a:p>
            <a:pPr lvl="1"/>
            <a:r>
              <a:rPr lang="en-US" sz="1000" dirty="0"/>
              <a:t>Gesture-driven spatial exploration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95C77-0F8C-70F3-F927-7D151D8C3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6880"/>
            <a:ext cx="3704762" cy="1038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0DB5CA-B224-0F36-F1F2-BA1D0ACC9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762" y="5712132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9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C4D7B8-B154-937C-FAA4-17B4F315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" y="117987"/>
            <a:ext cx="6833420" cy="5529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EE7929-FF24-A66F-C014-C28581ED28B3}"/>
              </a:ext>
            </a:extLst>
          </p:cNvPr>
          <p:cNvSpPr/>
          <p:nvPr/>
        </p:nvSpPr>
        <p:spPr>
          <a:xfrm>
            <a:off x="7713406" y="117987"/>
            <a:ext cx="4129550" cy="651878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Existing Functionality</a:t>
            </a:r>
          </a:p>
          <a:p>
            <a:r>
              <a:rPr lang="en-US" dirty="0"/>
              <a:t>Facility distribution across North America.</a:t>
            </a:r>
          </a:p>
          <a:p>
            <a:r>
              <a:rPr lang="en-US" dirty="0"/>
              <a:t>Company capacity visualization </a:t>
            </a:r>
          </a:p>
          <a:p>
            <a:r>
              <a:rPr lang="en-US" dirty="0"/>
              <a:t>Multi-industry manufacturing maps.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b="1" dirty="0"/>
              <a:t>Recommended AR Features</a:t>
            </a:r>
          </a:p>
          <a:p>
            <a:r>
              <a:rPr lang="en-US" dirty="0"/>
              <a:t>3D facility clusters </a:t>
            </a:r>
          </a:p>
          <a:p>
            <a:r>
              <a:rPr lang="en-US" dirty="0"/>
              <a:t>Production network overlays </a:t>
            </a:r>
          </a:p>
          <a:p>
            <a:r>
              <a:rPr lang="en-US" dirty="0"/>
              <a:t>Supply chain flow visualization </a:t>
            </a:r>
          </a:p>
          <a:p>
            <a:r>
              <a:rPr lang="en-US" dirty="0"/>
              <a:t>Company capacity “heat towers” </a:t>
            </a:r>
          </a:p>
          <a:p>
            <a:r>
              <a:rPr lang="en-US" dirty="0"/>
              <a:t>Interactive geographic storytelling.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Why AR Fits</a:t>
            </a:r>
          </a:p>
          <a:p>
            <a:r>
              <a:rPr lang="en-US" dirty="0"/>
              <a:t>This app already behaves like:</a:t>
            </a:r>
          </a:p>
          <a:p>
            <a:r>
              <a:rPr lang="en-US" dirty="0"/>
              <a:t>operational geography intelligence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AR enhances:</a:t>
            </a:r>
          </a:p>
          <a:p>
            <a:r>
              <a:rPr lang="en-US" dirty="0"/>
              <a:t>scale understanding </a:t>
            </a:r>
          </a:p>
          <a:p>
            <a:r>
              <a:rPr lang="en-US" dirty="0"/>
              <a:t>distribution awareness </a:t>
            </a:r>
          </a:p>
          <a:p>
            <a:r>
              <a:rPr lang="en-US" dirty="0"/>
              <a:t>operational network visibility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8A4B8D-E6AA-7CA1-90BB-21BF1C68D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6" y="5726880"/>
            <a:ext cx="3704762" cy="1038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9685A-F175-A4B7-A013-5AC37EC00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998" y="5712132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3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65834C-8030-96AF-8B70-9B2C0A5A8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7" y="132738"/>
            <a:ext cx="7309960" cy="552150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D3AC7B-F753-7405-0EAF-D952E39D1608}"/>
              </a:ext>
            </a:extLst>
          </p:cNvPr>
          <p:cNvSpPr/>
          <p:nvPr/>
        </p:nvSpPr>
        <p:spPr>
          <a:xfrm>
            <a:off x="8111613" y="265471"/>
            <a:ext cx="3731342" cy="63713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 Existing Functionality</a:t>
            </a:r>
          </a:p>
          <a:p>
            <a:pPr lvl="1"/>
            <a:r>
              <a:rPr lang="en-US" dirty="0"/>
              <a:t>Regional fuel demand </a:t>
            </a:r>
          </a:p>
          <a:p>
            <a:pPr lvl="1"/>
            <a:r>
              <a:rPr lang="en-US" dirty="0"/>
              <a:t>Mobility analytics </a:t>
            </a:r>
          </a:p>
          <a:p>
            <a:pPr lvl="1"/>
            <a:r>
              <a:rPr lang="en-US" dirty="0"/>
              <a:t>3D movement trends </a:t>
            </a:r>
          </a:p>
          <a:p>
            <a:pPr lvl="1"/>
            <a:r>
              <a:rPr lang="en-US" dirty="0"/>
              <a:t>Geographic demand overlays.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Recommended AR Features</a:t>
            </a:r>
          </a:p>
          <a:p>
            <a:pPr lvl="1"/>
            <a:r>
              <a:rPr lang="en-US" dirty="0"/>
              <a:t>Live traffic movement layers </a:t>
            </a:r>
          </a:p>
          <a:p>
            <a:pPr lvl="1"/>
            <a:r>
              <a:rPr lang="en-US" dirty="0"/>
              <a:t>Animated route flows </a:t>
            </a:r>
          </a:p>
          <a:p>
            <a:pPr lvl="1"/>
            <a:r>
              <a:rPr lang="en-US" dirty="0"/>
              <a:t>Fuel demand heat zones </a:t>
            </a:r>
          </a:p>
          <a:p>
            <a:pPr lvl="1"/>
            <a:r>
              <a:rPr lang="en-US" dirty="0"/>
              <a:t>3D consumption visualization </a:t>
            </a:r>
          </a:p>
          <a:p>
            <a:pPr lvl="1"/>
            <a:r>
              <a:rPr lang="en-US" dirty="0"/>
              <a:t>Dynamic travel intensity visualization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b="1" dirty="0"/>
              <a:t>Why AR Fits</a:t>
            </a:r>
          </a:p>
          <a:p>
            <a:pPr lvl="1"/>
            <a:r>
              <a:rPr lang="en-US" dirty="0"/>
              <a:t>Movement + geography + time-series =</a:t>
            </a:r>
            <a:br>
              <a:rPr lang="en-US" dirty="0"/>
            </a:br>
            <a:r>
              <a:rPr lang="en-US" dirty="0"/>
              <a:t>excellent immersive candidate.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F7100-E321-8B66-F469-1A8E7AB8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26" y="5726880"/>
            <a:ext cx="3704762" cy="10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59DE4-CB32-9159-2987-572DC0B4C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988" y="5712132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1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2F3594-8C08-41A4-65CE-22D4AC342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1" y="117936"/>
            <a:ext cx="8061262" cy="520623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8CF785-14A1-3BD7-26BE-B14088EC9108}"/>
              </a:ext>
            </a:extLst>
          </p:cNvPr>
          <p:cNvSpPr/>
          <p:nvPr/>
        </p:nvSpPr>
        <p:spPr>
          <a:xfrm>
            <a:off x="8421329" y="221225"/>
            <a:ext cx="3564193" cy="64524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Existing Functionality</a:t>
            </a:r>
          </a:p>
          <a:p>
            <a:pPr lvl="1"/>
            <a:r>
              <a:rPr lang="en-US" dirty="0"/>
              <a:t>Housing demand heatmaps </a:t>
            </a:r>
          </a:p>
          <a:p>
            <a:pPr lvl="1"/>
            <a:r>
              <a:rPr lang="en-US" dirty="0"/>
              <a:t>Supply/demand visualization </a:t>
            </a:r>
          </a:p>
          <a:p>
            <a:pPr lvl="1"/>
            <a:r>
              <a:rPr lang="en-US" dirty="0"/>
              <a:t>Regional housing insights.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Recommended AR Features</a:t>
            </a:r>
          </a:p>
          <a:p>
            <a:pPr lvl="1"/>
            <a:r>
              <a:rPr lang="en-US" dirty="0"/>
              <a:t>City-level demand overlays </a:t>
            </a:r>
          </a:p>
          <a:p>
            <a:pPr lvl="1"/>
            <a:r>
              <a:rPr lang="en-US" dirty="0"/>
              <a:t>3D housing density visualization </a:t>
            </a:r>
          </a:p>
          <a:p>
            <a:pPr lvl="1"/>
            <a:r>
              <a:rPr lang="en-US" dirty="0"/>
              <a:t>Interactive neighborhood comparison </a:t>
            </a:r>
          </a:p>
          <a:p>
            <a:pPr lvl="1"/>
            <a:r>
              <a:rPr lang="en-US" dirty="0"/>
              <a:t>Mortgage pressure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0F0140-E6E1-6976-24C1-8638F38D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17" y="5672473"/>
            <a:ext cx="3704762" cy="10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536923-7629-D93E-ACE4-449C258F1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379" y="5657725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6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2E3D95-9E82-9A71-6A65-394AF835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8" y="88493"/>
            <a:ext cx="7639664" cy="553715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8218D0-D9D3-4BC8-06B4-7C469A680482}"/>
              </a:ext>
            </a:extLst>
          </p:cNvPr>
          <p:cNvSpPr/>
          <p:nvPr/>
        </p:nvSpPr>
        <p:spPr>
          <a:xfrm>
            <a:off x="8244348" y="206477"/>
            <a:ext cx="3741174" cy="64671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 Existing Functionality</a:t>
            </a:r>
          </a:p>
          <a:p>
            <a:pPr lvl="1"/>
            <a:r>
              <a:rPr lang="en-US" dirty="0"/>
              <a:t>Builder pricing trends </a:t>
            </a:r>
          </a:p>
          <a:p>
            <a:pPr lvl="1"/>
            <a:r>
              <a:rPr lang="en-US" dirty="0"/>
              <a:t>Community distribution </a:t>
            </a:r>
          </a:p>
          <a:p>
            <a:pPr lvl="1"/>
            <a:r>
              <a:rPr lang="en-US" dirty="0"/>
              <a:t>Geographic market analytics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b="1" dirty="0"/>
              <a:t>Recommended AR Features</a:t>
            </a:r>
          </a:p>
          <a:p>
            <a:pPr lvl="1"/>
            <a:r>
              <a:rPr lang="en-US" dirty="0"/>
              <a:t>3D community overlays </a:t>
            </a:r>
          </a:p>
          <a:p>
            <a:pPr lvl="1"/>
            <a:r>
              <a:rPr lang="en-US" dirty="0"/>
              <a:t>Market hotspot visualization </a:t>
            </a:r>
          </a:p>
          <a:p>
            <a:pPr lvl="1"/>
            <a:r>
              <a:rPr lang="en-US" dirty="0"/>
              <a:t>Home-price density maps </a:t>
            </a:r>
          </a:p>
          <a:p>
            <a:pPr lvl="1"/>
            <a:r>
              <a:rPr lang="en-US" dirty="0"/>
              <a:t>Builder competition layers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FD90A-BD52-4904-5D8D-7092AE06A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2" y="5726880"/>
            <a:ext cx="3704762" cy="10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C83F90-D560-C9DA-0991-017CCBC8E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234" y="5712132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0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51443-C19D-43BF-7E3D-86188447F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6" y="176980"/>
            <a:ext cx="7860890" cy="513456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8451B-E4C9-6A53-1DC0-8D205909FA96}"/>
              </a:ext>
            </a:extLst>
          </p:cNvPr>
          <p:cNvSpPr/>
          <p:nvPr/>
        </p:nvSpPr>
        <p:spPr>
          <a:xfrm>
            <a:off x="8362335" y="191729"/>
            <a:ext cx="3623187" cy="648191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 Existing Functionality</a:t>
            </a:r>
          </a:p>
          <a:p>
            <a:pPr lvl="1"/>
            <a:r>
              <a:rPr lang="en-US" dirty="0"/>
              <a:t>Global port congestion tracking </a:t>
            </a:r>
          </a:p>
          <a:p>
            <a:pPr lvl="1"/>
            <a:r>
              <a:rPr lang="en-US" dirty="0"/>
              <a:t>Vessel turnaround analytics </a:t>
            </a:r>
          </a:p>
          <a:p>
            <a:pPr lvl="1"/>
            <a:r>
              <a:rPr lang="en-US" dirty="0"/>
              <a:t>Port operational performance.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b="1" dirty="0"/>
              <a:t>Recommended AR Features</a:t>
            </a:r>
          </a:p>
          <a:p>
            <a:pPr lvl="1"/>
            <a:r>
              <a:rPr lang="en-US" dirty="0"/>
              <a:t>3D global shipping routes </a:t>
            </a:r>
          </a:p>
          <a:p>
            <a:pPr lvl="1"/>
            <a:r>
              <a:rPr lang="en-US" dirty="0"/>
              <a:t>Port congestion animation </a:t>
            </a:r>
          </a:p>
          <a:p>
            <a:pPr lvl="1"/>
            <a:r>
              <a:rPr lang="en-US" dirty="0"/>
              <a:t>Vessel movement overlays </a:t>
            </a:r>
          </a:p>
          <a:p>
            <a:pPr lvl="1"/>
            <a:r>
              <a:rPr lang="en-US" dirty="0"/>
              <a:t>Regional bottleneck visualization.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b="1" dirty="0"/>
              <a:t>Why AR Fits</a:t>
            </a:r>
          </a:p>
          <a:p>
            <a:pPr lvl="1"/>
            <a:r>
              <a:rPr lang="en-US" dirty="0"/>
              <a:t>Supply chain logistics are inherently spatial.</a:t>
            </a:r>
          </a:p>
          <a:p>
            <a:pPr lvl="1"/>
            <a:r>
              <a:rPr lang="en-US" dirty="0"/>
              <a:t>This becomes:</a:t>
            </a:r>
          </a:p>
          <a:p>
            <a:pPr lvl="1"/>
            <a:r>
              <a:rPr lang="en-US" dirty="0"/>
              <a:t>visually compelling </a:t>
            </a:r>
          </a:p>
          <a:p>
            <a:pPr lvl="1"/>
            <a:r>
              <a:rPr lang="en-US" dirty="0"/>
              <a:t>executive-friendly </a:t>
            </a:r>
          </a:p>
          <a:p>
            <a:pPr lvl="1"/>
            <a:r>
              <a:rPr lang="en-US" dirty="0"/>
              <a:t>immersive operational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D0788-FF3C-062C-B040-63D161D24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19" y="5726880"/>
            <a:ext cx="3704762" cy="10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EBF9F2-D09F-2B58-989A-73A94AE15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481" y="5712132"/>
            <a:ext cx="2374492" cy="8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17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40491C-D249-C0A5-6273-38AF0454E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84" y="111977"/>
            <a:ext cx="6949944" cy="5158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8DF51-0A6C-094F-C94C-ACEE2B956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80" y="5410101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0D3ED6-AB26-83BF-5390-BFCDEAFDAF14}"/>
              </a:ext>
            </a:extLst>
          </p:cNvPr>
          <p:cNvSpPr/>
          <p:nvPr/>
        </p:nvSpPr>
        <p:spPr>
          <a:xfrm>
            <a:off x="8450826" y="111977"/>
            <a:ext cx="3426090" cy="656030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Existing Functionality</a:t>
            </a:r>
          </a:p>
          <a:p>
            <a:pPr lvl="1"/>
            <a:r>
              <a:rPr lang="en-US" dirty="0"/>
              <a:t>Consumer demand trends </a:t>
            </a:r>
          </a:p>
          <a:p>
            <a:pPr lvl="1"/>
            <a:r>
              <a:rPr lang="en-US" dirty="0"/>
              <a:t>Retail engagement tracking </a:t>
            </a:r>
          </a:p>
          <a:p>
            <a:pPr lvl="1"/>
            <a:r>
              <a:rPr lang="en-US" dirty="0"/>
              <a:t>Sector-wise macro behavior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Recommended Experience</a:t>
            </a:r>
          </a:p>
          <a:p>
            <a:pPr lvl="1"/>
            <a:r>
              <a:rPr lang="en-US" b="1" dirty="0"/>
              <a:t>Main UX</a:t>
            </a:r>
          </a:p>
          <a:p>
            <a:pPr lvl="1"/>
            <a:r>
              <a:rPr lang="en-US" dirty="0"/>
              <a:t>Modern React analytical dashboard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Optional AR Layer</a:t>
            </a:r>
          </a:p>
          <a:p>
            <a:pPr lvl="1"/>
            <a:r>
              <a:rPr lang="en-US" dirty="0"/>
              <a:t>Floating trend walls </a:t>
            </a:r>
          </a:p>
          <a:p>
            <a:pPr lvl="1"/>
            <a:r>
              <a:rPr lang="en-US" dirty="0"/>
              <a:t>3D retail sector comparison </a:t>
            </a:r>
          </a:p>
          <a:p>
            <a:pPr lvl="1"/>
            <a:r>
              <a:rPr lang="en-US" dirty="0"/>
              <a:t>Animated macroeconomic trend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5948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E12504-EFCC-1FCE-E3C0-CDA631F2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65382"/>
            <a:ext cx="6740013" cy="5383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2EEDF-7D54-34B5-1BE4-1A6A8E942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948" y="5449089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757199-5617-D8BD-A486-CF4D917737F6}"/>
              </a:ext>
            </a:extLst>
          </p:cNvPr>
          <p:cNvSpPr/>
          <p:nvPr/>
        </p:nvSpPr>
        <p:spPr>
          <a:xfrm>
            <a:off x="8480322" y="65382"/>
            <a:ext cx="3396593" cy="660690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/>
              <a:t>Existing Functionality</a:t>
            </a:r>
          </a:p>
          <a:p>
            <a:pPr lvl="1"/>
            <a:r>
              <a:rPr lang="en-US" dirty="0"/>
              <a:t>Multi-country retail analytics </a:t>
            </a:r>
          </a:p>
          <a:p>
            <a:pPr lvl="1"/>
            <a:r>
              <a:rPr lang="en-US" dirty="0"/>
              <a:t>Margin and </a:t>
            </a:r>
            <a:r>
              <a:rPr lang="en-US" dirty="0" err="1"/>
              <a:t>Opex</a:t>
            </a:r>
            <a:r>
              <a:rPr lang="en-US" dirty="0"/>
              <a:t> tracking </a:t>
            </a:r>
          </a:p>
          <a:p>
            <a:pPr lvl="1"/>
            <a:r>
              <a:rPr lang="en-US" dirty="0"/>
              <a:t>Commodity and labor trends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Recommended AR Features</a:t>
            </a:r>
          </a:p>
          <a:p>
            <a:pPr lvl="1"/>
            <a:r>
              <a:rPr lang="en-US" dirty="0"/>
              <a:t>Global retail heat overlays </a:t>
            </a:r>
          </a:p>
          <a:p>
            <a:pPr lvl="1"/>
            <a:r>
              <a:rPr lang="en-US" dirty="0"/>
              <a:t>Commodity price landscapes </a:t>
            </a:r>
          </a:p>
          <a:p>
            <a:pPr lvl="1"/>
            <a:r>
              <a:rPr lang="en-US" dirty="0"/>
              <a:t>Retail performance comparisons in 3D</a:t>
            </a:r>
          </a:p>
        </p:txBody>
      </p:sp>
    </p:spTree>
    <p:extLst>
      <p:ext uri="{BB962C8B-B14F-4D97-AF65-F5344CB8AC3E}">
        <p14:creationId xmlns:p14="http://schemas.microsoft.com/office/powerpoint/2010/main" val="115817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1C3-44B9-A8DC-0154-75153BAB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AA8DB3-1DFC-C084-D9DD-64C2123D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48" y="5449089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7CB8CB-9389-227C-64F1-0911770316F4}"/>
              </a:ext>
            </a:extLst>
          </p:cNvPr>
          <p:cNvSpPr/>
          <p:nvPr/>
        </p:nvSpPr>
        <p:spPr>
          <a:xfrm>
            <a:off x="8558755" y="133115"/>
            <a:ext cx="3396593" cy="660690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Existing Functionality</a:t>
            </a:r>
          </a:p>
          <a:p>
            <a:r>
              <a:rPr lang="en-US" dirty="0"/>
              <a:t>Job posting analytics </a:t>
            </a:r>
          </a:p>
          <a:p>
            <a:r>
              <a:rPr lang="en-US" dirty="0"/>
              <a:t>Employer demand tracking </a:t>
            </a:r>
          </a:p>
          <a:p>
            <a:r>
              <a:rPr lang="en-US" dirty="0"/>
              <a:t>Technology skill trends </a:t>
            </a:r>
          </a:p>
          <a:p>
            <a:r>
              <a:rPr lang="en-US" dirty="0"/>
              <a:t>Geographic hiring distribution </a:t>
            </a:r>
          </a:p>
          <a:p>
            <a:r>
              <a:rPr lang="en-US" dirty="0"/>
              <a:t>Salary insights </a:t>
            </a:r>
          </a:p>
          <a:p>
            <a:r>
              <a:rPr lang="en-US" dirty="0"/>
              <a:t>Workforce intelligence </a:t>
            </a:r>
          </a:p>
          <a:p>
            <a:r>
              <a:rPr lang="en-US" dirty="0"/>
              <a:t>AI/GenAI hiring trends </a:t>
            </a:r>
          </a:p>
          <a:p>
            <a:r>
              <a:rPr lang="en-US" dirty="0"/>
              <a:t>Employer comparison analytics </a:t>
            </a:r>
          </a:p>
          <a:p>
            <a:endParaRPr lang="en-US" dirty="0"/>
          </a:p>
          <a:p>
            <a:r>
              <a:rPr lang="en-US" b="1" dirty="0"/>
              <a:t>Recommended Modernization Approach</a:t>
            </a:r>
          </a:p>
          <a:p>
            <a:r>
              <a:rPr lang="en-US" b="1" dirty="0"/>
              <a:t>Primary Direction</a:t>
            </a:r>
          </a:p>
          <a:p>
            <a:r>
              <a:rPr lang="en-US" dirty="0"/>
              <a:t>Advanced React analytical platform optimized for:</a:t>
            </a:r>
          </a:p>
          <a:p>
            <a:r>
              <a:rPr lang="en-US" dirty="0"/>
              <a:t>workforce intelligence </a:t>
            </a:r>
          </a:p>
          <a:p>
            <a:r>
              <a:rPr lang="en-US" dirty="0"/>
              <a:t>trend forecasting </a:t>
            </a:r>
          </a:p>
          <a:p>
            <a:r>
              <a:rPr lang="en-US" dirty="0"/>
              <a:t>hiring insights </a:t>
            </a:r>
          </a:p>
          <a:p>
            <a:r>
              <a:rPr lang="en-US" dirty="0"/>
              <a:t>comparative analysis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5C9426-0E26-BE5A-A06D-14E35DE6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8" y="146729"/>
            <a:ext cx="6709291" cy="50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2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B585-F67D-DED4-AADC-D692793B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CB52F2-8A69-2E0E-300F-CAD2BF96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70" y="5449089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1EF9ED-A25B-C9F4-BA8A-7CC980305463}"/>
              </a:ext>
            </a:extLst>
          </p:cNvPr>
          <p:cNvSpPr/>
          <p:nvPr/>
        </p:nvSpPr>
        <p:spPr>
          <a:xfrm>
            <a:off x="8921996" y="170969"/>
            <a:ext cx="3072128" cy="65403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Existing Functionality</a:t>
            </a:r>
          </a:p>
          <a:p>
            <a:r>
              <a:rPr lang="en-US" dirty="0"/>
              <a:t>Scenario simulation </a:t>
            </a:r>
          </a:p>
          <a:p>
            <a:r>
              <a:rPr lang="en-US" dirty="0"/>
              <a:t>Enrollment forecasting </a:t>
            </a:r>
          </a:p>
          <a:p>
            <a:r>
              <a:rPr lang="en-US" dirty="0"/>
              <a:t>State-level calculation engine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Focus on:</a:t>
            </a:r>
          </a:p>
          <a:p>
            <a:r>
              <a:rPr lang="en-US" dirty="0"/>
              <a:t>interactive simulations </a:t>
            </a:r>
          </a:p>
          <a:p>
            <a:r>
              <a:rPr lang="en-US" dirty="0"/>
              <a:t>animated forecasting </a:t>
            </a:r>
          </a:p>
          <a:p>
            <a:r>
              <a:rPr lang="en-US" dirty="0"/>
              <a:t>real-time scenario recalculation </a:t>
            </a:r>
          </a:p>
          <a:p>
            <a:endParaRPr lang="en-US" dirty="0"/>
          </a:p>
          <a:p>
            <a:r>
              <a:rPr lang="en-US" b="1" dirty="0"/>
              <a:t>Why AR Is Weak Here</a:t>
            </a:r>
          </a:p>
          <a:p>
            <a:r>
              <a:rPr lang="en-US" dirty="0"/>
              <a:t>The app is:</a:t>
            </a:r>
          </a:p>
          <a:p>
            <a:r>
              <a:rPr lang="en-US" dirty="0"/>
              <a:t>logic-heavy </a:t>
            </a:r>
          </a:p>
          <a:p>
            <a:r>
              <a:rPr lang="en-US" dirty="0"/>
              <a:t>non-spatial </a:t>
            </a:r>
          </a:p>
          <a:p>
            <a:r>
              <a:rPr lang="en-US" dirty="0"/>
              <a:t>form/simulation oriented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A7010-5051-B23F-BB5A-7E78CFA47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76" y="131981"/>
            <a:ext cx="7191065" cy="50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C9AD-5B9F-698C-0A18-89C8F539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10E9DE-1207-D3BC-0026-7E4733EA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70" y="5449089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FA0443-6AA9-784E-DB9D-C1583087DF03}"/>
              </a:ext>
            </a:extLst>
          </p:cNvPr>
          <p:cNvSpPr/>
          <p:nvPr/>
        </p:nvSpPr>
        <p:spPr>
          <a:xfrm>
            <a:off x="8509820" y="191729"/>
            <a:ext cx="3367096" cy="659253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Existing Functionality</a:t>
            </a:r>
          </a:p>
          <a:p>
            <a:r>
              <a:rPr lang="en-US" dirty="0"/>
              <a:t>Commodity inflation tracking </a:t>
            </a:r>
          </a:p>
          <a:p>
            <a:r>
              <a:rPr lang="en-US" dirty="0"/>
              <a:t>Food input cost analysis </a:t>
            </a:r>
          </a:p>
          <a:p>
            <a:r>
              <a:rPr lang="en-US" dirty="0"/>
              <a:t>Grocery basket comparison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Recommended AR Features</a:t>
            </a:r>
          </a:p>
          <a:p>
            <a:r>
              <a:rPr lang="en-US" dirty="0"/>
              <a:t>Commodity inflation towers </a:t>
            </a:r>
          </a:p>
          <a:p>
            <a:r>
              <a:rPr lang="en-US" dirty="0"/>
              <a:t>Supply-chain inflation pathways </a:t>
            </a:r>
          </a:p>
          <a:p>
            <a:r>
              <a:rPr lang="en-US" dirty="0"/>
              <a:t>Interactive commodity landscape </a:t>
            </a:r>
          </a:p>
          <a:p>
            <a:endParaRPr lang="en-US" dirty="0"/>
          </a:p>
          <a:p>
            <a:r>
              <a:rPr lang="en-US" b="1" dirty="0"/>
              <a:t>Why AR Can Work</a:t>
            </a:r>
          </a:p>
          <a:p>
            <a:r>
              <a:rPr lang="en-US" dirty="0"/>
              <a:t>Although chart-heavy, food supply chains have:</a:t>
            </a:r>
          </a:p>
          <a:p>
            <a:r>
              <a:rPr lang="en-US" dirty="0"/>
              <a:t>geographic relevance </a:t>
            </a:r>
          </a:p>
          <a:p>
            <a:r>
              <a:rPr lang="en-US" dirty="0"/>
              <a:t>logistics relationships </a:t>
            </a:r>
          </a:p>
          <a:p>
            <a:r>
              <a:rPr lang="en-US" dirty="0"/>
              <a:t>inflation propagation storytelling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3CAE16-6595-A504-6366-941F0DF5D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5" y="65381"/>
            <a:ext cx="7110358" cy="532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2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3F229-41BF-65DE-318D-C819EE33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91115E-B61A-6BAA-28DC-ECE1E7524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70" y="5449089"/>
            <a:ext cx="5100033" cy="1262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D45FC0-7994-F4C4-6050-FCA5DA777F58}"/>
              </a:ext>
            </a:extLst>
          </p:cNvPr>
          <p:cNvSpPr/>
          <p:nvPr/>
        </p:nvSpPr>
        <p:spPr>
          <a:xfrm>
            <a:off x="8421329" y="0"/>
            <a:ext cx="3377381" cy="678501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</a:t>
            </a:r>
          </a:p>
          <a:p>
            <a:r>
              <a:rPr lang="en-US" b="1" dirty="0"/>
              <a:t>Existing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visitor movement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trip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destination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regional mobility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transportation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tourism engagement signals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application combines: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mobility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geographic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demand forecasting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trend analysis</a:t>
            </a:r>
          </a:p>
          <a:p>
            <a:endParaRPr lang="en-US" dirty="0"/>
          </a:p>
          <a:p>
            <a:r>
              <a:rPr lang="en-US" b="1" dirty="0"/>
              <a:t>Recommended Experience</a:t>
            </a:r>
          </a:p>
          <a:p>
            <a:r>
              <a:rPr lang="en-US" dirty="0"/>
              <a:t>Focus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smooth transitions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animated maps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executive storytelling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responsive dashboards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cinematic analytical exploration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31194-867A-906F-5020-D64E24832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79" y="146729"/>
            <a:ext cx="7279711" cy="516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3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592</Words>
  <Application>Microsoft Office PowerPoint</Application>
  <PresentationFormat>Widescreen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2026-05-20T20:33:25Z</dcterms:created>
  <dcterms:modified xsi:type="dcterms:W3CDTF">2026-05-20T21:08:18Z</dcterms:modified>
</cp:coreProperties>
</file>